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itchFamily="2" charset="0"/>
      <p:regular r:id="rId25"/>
    </p:embeddedFont>
    <p:embeddedFont>
      <p:font typeface="Gotham Bold Italics" panose="02000000000000000000" pitchFamily="2"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2.fntdata" /><Relationship Id="rId26" Type="http://schemas.openxmlformats.org/officeDocument/2006/relationships/font" Target="fonts/font10.fntdata" /><Relationship Id="rId3" Type="http://schemas.openxmlformats.org/officeDocument/2006/relationships/slide" Target="slides/slide2.xml" /><Relationship Id="rId21" Type="http://schemas.openxmlformats.org/officeDocument/2006/relationships/font" Target="fonts/font5.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1.fntdata" /><Relationship Id="rId25" Type="http://schemas.openxmlformats.org/officeDocument/2006/relationships/font" Target="fonts/font9.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4.fntdata"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8.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7.fntdata"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font" Target="fonts/font3.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6.fntdata" /><Relationship Id="rId27" Type="http://schemas.openxmlformats.org/officeDocument/2006/relationships/presProps" Target="presProps.xml" /><Relationship Id="rId30"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2362201" y="3897940"/>
            <a:ext cx="14097000" cy="1754326"/>
          </a:xfrm>
          <a:prstGeom prst="rect">
            <a:avLst/>
          </a:prstGeom>
          <a:noFill/>
        </p:spPr>
        <p:txBody>
          <a:bodyPr wrap="square" rtlCol="0">
            <a:spAutoFit/>
          </a:bodyPr>
          <a:lstStyle/>
          <a:p>
            <a:pPr algn="ctr"/>
            <a:r>
              <a:rPr lang="en-US" sz="3600" b="1" dirty="0">
                <a:solidFill>
                  <a:srgbClr val="C00000"/>
                </a:solidFill>
                <a:latin typeface="Arial" panose="020B0604020202020204" pitchFamily="34" charset="0"/>
                <a:cs typeface="Arial" panose="020B0604020202020204" pitchFamily="34" charset="0"/>
              </a:rPr>
              <a:t>END SEMESTER PROJECT REVIEW </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19129" y="6019895"/>
            <a:ext cx="15784162" cy="584775"/>
          </a:xfrm>
          <a:prstGeom prst="rect">
            <a:avLst/>
          </a:prstGeom>
          <a:noFill/>
        </p:spPr>
        <p:txBody>
          <a:bodyPr wrap="square" rtlCol="0">
            <a:spAutoFit/>
          </a:bodyPr>
          <a:lstStyle/>
          <a:p>
            <a:pPr algn="ctr"/>
            <a:r>
              <a:rPr lang="en-US" sz="3200" b="1" dirty="0" err="1">
                <a:solidFill>
                  <a:srgbClr val="0033CC"/>
                </a:solidFill>
                <a:latin typeface="Times New Roman" panose="02020603050405020304" pitchFamily="18" charset="0"/>
                <a:cs typeface="Times New Roman" panose="02020603050405020304" pitchFamily="18" charset="0"/>
              </a:rPr>
              <a:t>EventSphere</a:t>
            </a:r>
            <a:r>
              <a:rPr lang="en-US" sz="3200" b="1" dirty="0">
                <a:solidFill>
                  <a:srgbClr val="0033CC"/>
                </a:solidFill>
                <a:latin typeface="Times New Roman" panose="02020603050405020304" pitchFamily="18" charset="0"/>
                <a:cs typeface="Times New Roman" panose="02020603050405020304" pitchFamily="18" charset="0"/>
              </a:rPr>
              <a:t> - Online Event Registration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M.N.SAHITHIKIRAN– VTU24654– 23UECS0357</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DR.S.HEMAMALINI.ME.,PH.D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1907241"/>
            <a:ext cx="15082325" cy="7402668"/>
          </a:xfrm>
          <a:prstGeom prst="rect">
            <a:avLst/>
          </a:prstGeom>
          <a:noFill/>
        </p:spPr>
        <p:txBody>
          <a:bodyPr wrap="square" rtlCol="0">
            <a:spAutoFit/>
          </a:bodyPr>
          <a:lstStyle/>
          <a:p>
            <a:pPr algn="just">
              <a:lnSpc>
                <a:spcPct val="150000"/>
              </a:lnSpc>
            </a:pPr>
            <a:r>
              <a:rPr lang="en-US" sz="3200" dirty="0">
                <a:latin typeface="Times New Roman" panose="02020603050405020304" pitchFamily="18" charset="0"/>
                <a:cs typeface="Times New Roman" panose="02020603050405020304" pitchFamily="18" charset="0"/>
              </a:rPr>
              <a:t>Campus events are often managed manually, leading to confusion, missed updates, and inefficient coordination. Students may miss opportunities due to lack of a centralized information system. This project is important as it digitizes event management, making it organized and easily accessible. It improves communication between organizers and participants in real time. The system has real-world relevance in colleges, universities, and institutions conducting frequent events. It reduces paperwork and saves time through automation. The Smart Campus Event Management System allows users to view, create, and register for events online. It provides a centralized platform for efficient event planning, management, and participation.</a:t>
            </a:r>
            <a:endParaRPr lang="en-IN" sz="3200" dirty="0">
              <a:latin typeface="Times New Roman" panose="02020603050405020304" pitchFamily="18" charset="0"/>
              <a:cs typeface="Times New Roman" panose="02020603050405020304" pitchFamily="18" charset="0"/>
            </a:endParaRPr>
          </a:p>
          <a:p>
            <a:pPr algn="just">
              <a:lnSpc>
                <a:spcPct val="150000"/>
              </a:lnSpc>
            </a:pP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662656"/>
            <a:ext cx="15082325" cy="8141331"/>
          </a:xfrm>
          <a:prstGeom prst="rect">
            <a:avLst/>
          </a:prstGeom>
          <a:noFill/>
        </p:spPr>
        <p:txBody>
          <a:bodyPr wrap="square" rtlCol="0">
            <a:spAutoFit/>
          </a:bodyPr>
          <a:lstStyle/>
          <a:p>
            <a:pPr algn="just">
              <a:lnSpc>
                <a:spcPct val="150000"/>
              </a:lnSpc>
              <a:buNone/>
            </a:pPr>
            <a:r>
              <a:rPr lang="en-US" sz="3200" dirty="0">
                <a:latin typeface="Times New Roman" panose="02020603050405020304" pitchFamily="18" charset="0"/>
                <a:cs typeface="Times New Roman" panose="02020603050405020304" pitchFamily="18" charset="0"/>
              </a:rPr>
              <a:t>In many campuses, event management is still handled manually or through multiple unorganized platforms, leading to poor communication and missed updates. Organizers face difficulties in managing event details and tracking participant registrations efficiently, while students often lack a centralized system to discover and register for events. These manual processes increase the chances of errors, data mismanagement, and reduced participation. There is also no proper mechanism to monitor event engagement and performance. Therefore, there is a need for a simple, reliable, and automated system that centralizes all event-related activities. The proposed Smart Campus Event Management System aims to address these issues by improving efficiency, accuracy, and accessibility.</a:t>
            </a:r>
          </a:p>
          <a:p>
            <a:pPr algn="just">
              <a:lnSpc>
                <a:spcPct val="150000"/>
              </a:lnSpc>
            </a:pPr>
            <a:endParaRPr lang="en-IN" sz="3200" dirty="0"/>
          </a:p>
          <a:p>
            <a:pPr algn="just">
              <a:lnSpc>
                <a:spcPct val="150000"/>
              </a:lnSpc>
            </a:pP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176975" y="1423954"/>
            <a:ext cx="15082325" cy="8427820"/>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To design and develop a Smart Campus Event Management System:</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create a centralized platform for managing campus events.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design a user-friendly interface for easy event access and management.</a:t>
            </a:r>
          </a:p>
          <a:p>
            <a:pPr>
              <a:lnSpc>
                <a:spcPct val="150000"/>
              </a:lnSpc>
            </a:pPr>
            <a:r>
              <a:rPr lang="en-US" sz="2800" b="1" dirty="0">
                <a:latin typeface="Times New Roman" panose="02020603050405020304" pitchFamily="18" charset="0"/>
                <a:cs typeface="Times New Roman" panose="02020603050405020304" pitchFamily="18" charset="0"/>
              </a:rPr>
              <a:t>To implement an automated event management process: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enable event creation, registration, and tracking digitally.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ensure real-time updates and notifications for users.</a:t>
            </a:r>
          </a:p>
          <a:p>
            <a:pPr>
              <a:lnSpc>
                <a:spcPct val="150000"/>
              </a:lnSpc>
            </a:pPr>
            <a:r>
              <a:rPr lang="en-US" sz="2800" b="1" dirty="0">
                <a:latin typeface="Times New Roman" panose="02020603050405020304" pitchFamily="18" charset="0"/>
                <a:cs typeface="Times New Roman" panose="02020603050405020304" pitchFamily="18" charset="0"/>
              </a:rPr>
              <a:t>To improve system efficiency: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streamline communication between organizers and participants.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reduce manual work and data management errors.</a:t>
            </a:r>
          </a:p>
          <a:p>
            <a:pPr>
              <a:lnSpc>
                <a:spcPct val="150000"/>
              </a:lnSpc>
            </a:pPr>
            <a:r>
              <a:rPr lang="en-US" sz="2800" b="1" dirty="0">
                <a:latin typeface="Times New Roman" panose="02020603050405020304" pitchFamily="18" charset="0"/>
                <a:cs typeface="Times New Roman" panose="02020603050405020304" pitchFamily="18" charset="0"/>
              </a:rPr>
              <a:t>To evaluate performance of the system:</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measure system reliability during multiple event operations.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analyze user experience and overall system effectiveness.</a:t>
            </a:r>
          </a:p>
          <a:p>
            <a:pPr marL="457200" indent="-457200">
              <a:lnSpc>
                <a:spcPct val="150000"/>
              </a:lnSpc>
              <a:buFontTx/>
              <a:buChar char="-"/>
            </a:pPr>
            <a:endParaRPr lang="en-IN" sz="2800" dirty="0"/>
          </a:p>
        </p:txBody>
      </p:sp>
      <p:sp>
        <p:nvSpPr>
          <p:cNvPr id="2" name="Rectangle 1">
            <a:extLst>
              <a:ext uri="{FF2B5EF4-FFF2-40B4-BE49-F238E27FC236}">
                <a16:creationId xmlns:a16="http://schemas.microsoft.com/office/drawing/2014/main" id="{E9621A96-875C-D437-60CA-A86CF997A0C5}"/>
              </a:ext>
            </a:extLst>
          </p:cNvPr>
          <p:cNvSpPr>
            <a:spLocks noChangeArrowheads="1"/>
          </p:cNvSpPr>
          <p:nvPr/>
        </p:nvSpPr>
        <p:spPr bwMode="auto">
          <a:xfrm flipH="1">
            <a:off x="-838199" y="-184666"/>
            <a:ext cx="838200" cy="372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794863" y="1795173"/>
            <a:ext cx="15082325" cy="6664004"/>
          </a:xfrm>
          <a:prstGeom prst="rect">
            <a:avLst/>
          </a:prstGeom>
          <a:noFill/>
        </p:spPr>
        <p:txBody>
          <a:bodyPr wrap="square" rtlCol="0">
            <a:spAutoFit/>
          </a:bodyPr>
          <a:lstStyle/>
          <a:p>
            <a:pPr algn="just">
              <a:lnSpc>
                <a:spcPct val="150000"/>
              </a:lnSpc>
            </a:pPr>
            <a:r>
              <a:rPr lang="en-US" sz="3200" dirty="0">
                <a:latin typeface="Times New Roman" panose="02020603050405020304" pitchFamily="18" charset="0"/>
                <a:cs typeface="Times New Roman" panose="02020603050405020304" pitchFamily="18" charset="0"/>
              </a:rPr>
              <a:t>The proposed solution is a web-based Smart Campus Event Management System that centralizes all event-related activities on a single platform. It allows organizers to create, update, and manage events digitally, while students can easily browse, register, and receive notifications about upcoming events. This system eliminates manual processes, reducing errors and improving data management. It effectively addresses issues such as poor communication, missed updates, and lack of coordination. Real-time notifications enhance interaction between organizers and participants. Compared to existing systems, it offers better automation, improved accuracy, and faster access to information. Overall, it increases efficiency, saves time, and provides a better user experience.</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90500" y="3595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AutoShape 2" descr="Generated image">
            <a:extLst>
              <a:ext uri="{FF2B5EF4-FFF2-40B4-BE49-F238E27FC236}">
                <a16:creationId xmlns:a16="http://schemas.microsoft.com/office/drawing/2014/main" id="{0B729CF5-CA7E-EE5B-7E10-F943345938F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2" name="Picture 31">
            <a:extLst>
              <a:ext uri="{FF2B5EF4-FFF2-40B4-BE49-F238E27FC236}">
                <a16:creationId xmlns:a16="http://schemas.microsoft.com/office/drawing/2014/main" id="{13A253C9-9A56-5CE1-BE1E-1B5DEC90F6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1401621"/>
            <a:ext cx="12801600" cy="853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27F87B-BFBD-0C04-FAC5-823C0CE81C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374121"/>
            <a:ext cx="6350702" cy="79355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905000" y="1291957"/>
            <a:ext cx="15082325" cy="9140964"/>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Frontend:</a:t>
            </a:r>
          </a:p>
          <a:p>
            <a:r>
              <a:rPr lang="en-IN" sz="2800" dirty="0">
                <a:latin typeface="Times New Roman" panose="02020603050405020304" pitchFamily="18" charset="0"/>
                <a:cs typeface="Times New Roman" panose="02020603050405020304" pitchFamily="18" charset="0"/>
              </a:rPr>
              <a:t>HTML </a:t>
            </a:r>
          </a:p>
          <a:p>
            <a:r>
              <a:rPr lang="en-IN" sz="2800" dirty="0">
                <a:latin typeface="Times New Roman" panose="02020603050405020304" pitchFamily="18" charset="0"/>
                <a:cs typeface="Times New Roman" panose="02020603050405020304" pitchFamily="18" charset="0"/>
              </a:rPr>
              <a:t>CSS </a:t>
            </a:r>
          </a:p>
          <a:p>
            <a:r>
              <a:rPr lang="en-IN" sz="2800" dirty="0">
                <a:latin typeface="Times New Roman" panose="02020603050405020304" pitchFamily="18" charset="0"/>
                <a:cs typeface="Times New Roman" panose="02020603050405020304" pitchFamily="18" charset="0"/>
              </a:rPr>
              <a:t>JavaScript </a:t>
            </a:r>
          </a:p>
          <a:p>
            <a:r>
              <a:rPr lang="en-IN" sz="2800" dirty="0">
                <a:latin typeface="Times New Roman" panose="02020603050405020304" pitchFamily="18" charset="0"/>
                <a:cs typeface="Times New Roman" panose="02020603050405020304" pitchFamily="18" charset="0"/>
              </a:rPr>
              <a:t>React.js </a:t>
            </a:r>
          </a:p>
          <a:p>
            <a:r>
              <a:rPr lang="en-IN" sz="2800" b="1" dirty="0">
                <a:latin typeface="Times New Roman" panose="02020603050405020304" pitchFamily="18" charset="0"/>
                <a:cs typeface="Times New Roman" panose="02020603050405020304" pitchFamily="18" charset="0"/>
              </a:rPr>
              <a:t>Backend:</a:t>
            </a:r>
          </a:p>
          <a:p>
            <a:r>
              <a:rPr lang="en-IN" sz="2800" dirty="0">
                <a:latin typeface="Times New Roman" panose="02020603050405020304" pitchFamily="18" charset="0"/>
                <a:cs typeface="Times New Roman" panose="02020603050405020304" pitchFamily="18" charset="0"/>
              </a:rPr>
              <a:t>Node.js </a:t>
            </a:r>
          </a:p>
          <a:p>
            <a:r>
              <a:rPr lang="en-IN" sz="2800" dirty="0">
                <a:latin typeface="Times New Roman" panose="02020603050405020304" pitchFamily="18" charset="0"/>
                <a:cs typeface="Times New Roman" panose="02020603050405020304" pitchFamily="18" charset="0"/>
              </a:rPr>
              <a:t>Express.js </a:t>
            </a:r>
          </a:p>
          <a:p>
            <a:r>
              <a:rPr lang="en-IN" sz="2800" b="1" dirty="0">
                <a:latin typeface="Times New Roman" panose="02020603050405020304" pitchFamily="18" charset="0"/>
                <a:cs typeface="Times New Roman" panose="02020603050405020304" pitchFamily="18" charset="0"/>
              </a:rPr>
              <a:t>Database:</a:t>
            </a:r>
          </a:p>
          <a:p>
            <a:r>
              <a:rPr lang="en-IN" sz="2800" dirty="0">
                <a:latin typeface="Times New Roman" panose="02020603050405020304" pitchFamily="18" charset="0"/>
                <a:cs typeface="Times New Roman" panose="02020603050405020304" pitchFamily="18" charset="0"/>
              </a:rPr>
              <a:t>MongoDB </a:t>
            </a:r>
            <a:r>
              <a:rPr lang="en-IN" sz="2800" i="1" dirty="0">
                <a:latin typeface="Times New Roman" panose="02020603050405020304" pitchFamily="18" charset="0"/>
                <a:cs typeface="Times New Roman" panose="02020603050405020304" pitchFamily="18" charset="0"/>
              </a:rPr>
              <a:t>(or MySQL)</a:t>
            </a:r>
            <a:r>
              <a:rPr lang="en-IN" sz="2800" dirty="0">
                <a:latin typeface="Times New Roman" panose="02020603050405020304" pitchFamily="18" charset="0"/>
                <a:cs typeface="Times New Roman" panose="02020603050405020304" pitchFamily="18" charset="0"/>
              </a:rPr>
              <a:t> </a:t>
            </a:r>
          </a:p>
          <a:p>
            <a:r>
              <a:rPr lang="en-IN" sz="2800" b="1" dirty="0">
                <a:latin typeface="Times New Roman" panose="02020603050405020304" pitchFamily="18" charset="0"/>
                <a:cs typeface="Times New Roman" panose="02020603050405020304" pitchFamily="18" charset="0"/>
              </a:rPr>
              <a:t>Tools:</a:t>
            </a:r>
          </a:p>
          <a:p>
            <a:r>
              <a:rPr lang="en-IN" sz="2800" dirty="0">
                <a:latin typeface="Times New Roman" panose="02020603050405020304" pitchFamily="18" charset="0"/>
                <a:cs typeface="Times New Roman" panose="02020603050405020304" pitchFamily="18" charset="0"/>
              </a:rPr>
              <a:t>Visual Studio Code </a:t>
            </a:r>
          </a:p>
          <a:p>
            <a:r>
              <a:rPr lang="en-IN" sz="2800" dirty="0">
                <a:latin typeface="Times New Roman" panose="02020603050405020304" pitchFamily="18" charset="0"/>
                <a:cs typeface="Times New Roman" panose="02020603050405020304" pitchFamily="18" charset="0"/>
              </a:rPr>
              <a:t>Git &amp; GitHub </a:t>
            </a:r>
          </a:p>
          <a:p>
            <a:r>
              <a:rPr lang="en-IN" sz="2800" b="1" dirty="0">
                <a:latin typeface="Times New Roman" panose="02020603050405020304" pitchFamily="18" charset="0"/>
                <a:cs typeface="Times New Roman" panose="02020603050405020304" pitchFamily="18" charset="0"/>
              </a:rPr>
              <a:t>Hardware:</a:t>
            </a:r>
          </a:p>
          <a:p>
            <a:r>
              <a:rPr lang="en-IN" sz="2800" dirty="0">
                <a:latin typeface="Times New Roman" panose="02020603050405020304" pitchFamily="18" charset="0"/>
                <a:cs typeface="Times New Roman" panose="02020603050405020304" pitchFamily="18" charset="0"/>
              </a:rPr>
              <a:t>Computer/Laptop with minimum 4GB RAM </a:t>
            </a:r>
          </a:p>
          <a:p>
            <a:r>
              <a:rPr lang="en-IN" sz="2800" dirty="0">
                <a:latin typeface="Times New Roman" panose="02020603050405020304" pitchFamily="18" charset="0"/>
                <a:cs typeface="Times New Roman" panose="02020603050405020304" pitchFamily="18" charset="0"/>
              </a:rPr>
              <a:t>Internet connection </a:t>
            </a:r>
          </a:p>
          <a:p>
            <a:r>
              <a:rPr lang="en-IN" sz="2800" b="1" dirty="0">
                <a:latin typeface="Times New Roman" panose="02020603050405020304" pitchFamily="18" charset="0"/>
                <a:cs typeface="Times New Roman" panose="02020603050405020304" pitchFamily="18" charset="0"/>
              </a:rPr>
              <a:t>Software:</a:t>
            </a:r>
          </a:p>
          <a:p>
            <a:r>
              <a:rPr lang="en-IN" sz="2800" dirty="0">
                <a:latin typeface="Times New Roman" panose="02020603050405020304" pitchFamily="18" charset="0"/>
                <a:cs typeface="Times New Roman" panose="02020603050405020304" pitchFamily="18" charset="0"/>
              </a:rPr>
              <a:t>Web Browser (Chrome/Edge) </a:t>
            </a:r>
          </a:p>
          <a:p>
            <a:r>
              <a:rPr lang="en-IN" sz="2800" dirty="0">
                <a:latin typeface="Times New Roman" panose="02020603050405020304" pitchFamily="18" charset="0"/>
                <a:cs typeface="Times New Roman" panose="02020603050405020304" pitchFamily="18" charset="0"/>
              </a:rPr>
              <a:t>Node.js installed  </a:t>
            </a:r>
          </a:p>
          <a:p>
            <a:r>
              <a:rPr lang="en-IN" sz="2800" dirty="0">
                <a:latin typeface="Times New Roman" panose="02020603050405020304" pitchFamily="18" charset="0"/>
                <a:cs typeface="Times New Roman" panose="02020603050405020304" pitchFamily="18" charset="0"/>
              </a:rPr>
              <a:t>Code Editor (VS Code)</a:t>
            </a:r>
          </a:p>
          <a:p>
            <a:pPr marL="457200" indent="-457200" algn="just">
              <a:buFont typeface="Arial" panose="020B0604020202020204" pitchFamily="34" charset="0"/>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995301" y="1890302"/>
            <a:ext cx="15082325" cy="7135158"/>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Module 1: User Management</a:t>
            </a:r>
          </a:p>
          <a:p>
            <a:pPr>
              <a:lnSpc>
                <a:spcPct val="150000"/>
              </a:lnSpc>
            </a:pPr>
            <a:r>
              <a:rPr lang="en-US" sz="2800" dirty="0">
                <a:latin typeface="Times New Roman" panose="02020603050405020304" pitchFamily="18" charset="0"/>
                <a:cs typeface="Times New Roman" panose="02020603050405020304" pitchFamily="18" charset="0"/>
              </a:rPr>
              <a:t>Handles user registration, login, and role-based access (Admin, Organizer, Student) with secure authentication.</a:t>
            </a:r>
          </a:p>
          <a:p>
            <a:pPr>
              <a:lnSpc>
                <a:spcPct val="150000"/>
              </a:lnSpc>
            </a:pPr>
            <a:r>
              <a:rPr lang="en-US" sz="2800" b="1" dirty="0">
                <a:latin typeface="Times New Roman" panose="02020603050405020304" pitchFamily="18" charset="0"/>
                <a:cs typeface="Times New Roman" panose="02020603050405020304" pitchFamily="18" charset="0"/>
              </a:rPr>
              <a:t>Module 2: Event Management</a:t>
            </a:r>
          </a:p>
          <a:p>
            <a:pPr>
              <a:lnSpc>
                <a:spcPct val="150000"/>
              </a:lnSpc>
            </a:pPr>
            <a:r>
              <a:rPr lang="en-US" sz="2800" dirty="0">
                <a:latin typeface="Times New Roman" panose="02020603050405020304" pitchFamily="18" charset="0"/>
                <a:cs typeface="Times New Roman" panose="02020603050405020304" pitchFamily="18" charset="0"/>
              </a:rPr>
              <a:t>Allows organizers to create, update, delete, and manage events along with event details like date, venue, and description.</a:t>
            </a:r>
          </a:p>
          <a:p>
            <a:pPr>
              <a:lnSpc>
                <a:spcPct val="150000"/>
              </a:lnSpc>
            </a:pPr>
            <a:r>
              <a:rPr lang="en-US" sz="2800" b="1" dirty="0">
                <a:latin typeface="Times New Roman" panose="02020603050405020304" pitchFamily="18" charset="0"/>
                <a:cs typeface="Times New Roman" panose="02020603050405020304" pitchFamily="18" charset="0"/>
              </a:rPr>
              <a:t>Module 3: Registration Management</a:t>
            </a:r>
          </a:p>
          <a:p>
            <a:pPr>
              <a:lnSpc>
                <a:spcPct val="150000"/>
              </a:lnSpc>
            </a:pPr>
            <a:r>
              <a:rPr lang="en-US" sz="2800" dirty="0">
                <a:latin typeface="Times New Roman" panose="02020603050405020304" pitchFamily="18" charset="0"/>
                <a:cs typeface="Times New Roman" panose="02020603050405020304" pitchFamily="18" charset="0"/>
              </a:rPr>
              <a:t>Enables students to register for events, view registered events, and manage participation efficiently.</a:t>
            </a:r>
          </a:p>
          <a:p>
            <a:pPr>
              <a:lnSpc>
                <a:spcPct val="150000"/>
              </a:lnSpc>
            </a:pPr>
            <a:r>
              <a:rPr lang="en-US" sz="2800" b="1" dirty="0">
                <a:latin typeface="Times New Roman" panose="02020603050405020304" pitchFamily="18" charset="0"/>
                <a:cs typeface="Times New Roman" panose="02020603050405020304" pitchFamily="18" charset="0"/>
              </a:rPr>
              <a:t>Module 4: Notification &amp; Communication</a:t>
            </a:r>
          </a:p>
          <a:p>
            <a:pPr>
              <a:lnSpc>
                <a:spcPct val="150000"/>
              </a:lnSpc>
            </a:pPr>
            <a:r>
              <a:rPr lang="en-US" sz="2800" dirty="0">
                <a:latin typeface="Times New Roman" panose="02020603050405020304" pitchFamily="18" charset="0"/>
                <a:cs typeface="Times New Roman" panose="02020603050405020304" pitchFamily="18" charset="0"/>
              </a:rPr>
              <a:t>Provides real-time notifications and updates about events, registrations, and announcements.</a:t>
            </a:r>
          </a:p>
          <a:p>
            <a:pPr algn="just">
              <a:lnSpc>
                <a:spcPct val="150000"/>
              </a:lnSpc>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12157174"/>
          </a:xfrm>
          <a:prstGeom prst="rect">
            <a:avLst/>
          </a:prstGeom>
          <a:noFill/>
        </p:spPr>
        <p:txBody>
          <a:bodyPr wrap="square" rtlCol="0">
            <a:spAutoFit/>
          </a:bodyPr>
          <a:lstStyle/>
          <a:p>
            <a:r>
              <a:rPr lang="en-US" sz="2800" dirty="0"/>
              <a:t>Home page:</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Home Page provides a user-friendly interface with options for login, registration, and exploring </a:t>
            </a:r>
            <a:r>
              <a:rPr lang="en-US" sz="2800" dirty="0" err="1">
                <a:latin typeface="Times New Roman" panose="02020603050405020304" pitchFamily="18" charset="0"/>
                <a:cs typeface="Times New Roman" panose="02020603050405020304" pitchFamily="18" charset="0"/>
              </a:rPr>
              <a:t>events.It</a:t>
            </a:r>
            <a:r>
              <a:rPr lang="en-US" sz="2800" dirty="0">
                <a:latin typeface="Times New Roman" panose="02020603050405020304" pitchFamily="18" charset="0"/>
                <a:cs typeface="Times New Roman" panose="02020603050405020304" pitchFamily="18" charset="0"/>
              </a:rPr>
              <a:t> highlights key features like event creation, registration, and notifications for easy access.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B0D6810-6364-CCB2-EE9B-B0744548D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988608"/>
            <a:ext cx="10134600" cy="568804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8710077"/>
          </a:xfrm>
          <a:prstGeom prst="rect">
            <a:avLst/>
          </a:prstGeom>
          <a:noFill/>
        </p:spPr>
        <p:txBody>
          <a:bodyPr wrap="square" rtlCol="0">
            <a:spAutoFit/>
          </a:bodyPr>
          <a:lstStyle/>
          <a:p>
            <a:r>
              <a:rPr lang="en-US" sz="2800" dirty="0"/>
              <a:t>Login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r>
              <a:rPr lang="en-US" sz="2800" dirty="0">
                <a:latin typeface="Times New Roman" panose="02020603050405020304" pitchFamily="18" charset="0"/>
                <a:cs typeface="Times New Roman" panose="02020603050405020304" pitchFamily="18" charset="0"/>
              </a:rPr>
              <a:t>The Login Page allows users to enter their email and password to access the system. It also provides a registration option for new users to create an account.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35D035D-56DA-13C1-1F16-C45056BDB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999" y="2247899"/>
            <a:ext cx="12649201" cy="464820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11726287"/>
          </a:xfrm>
          <a:prstGeom prst="rect">
            <a:avLst/>
          </a:prstGeom>
          <a:noFill/>
        </p:spPr>
        <p:txBody>
          <a:bodyPr wrap="square" rtlCol="0">
            <a:spAutoFit/>
          </a:bodyPr>
          <a:lstStyle/>
          <a:p>
            <a:r>
              <a:rPr lang="en-IN" sz="2800" dirty="0"/>
              <a:t>Main Module:</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r>
              <a:rPr lang="en-US" sz="2800" dirty="0">
                <a:latin typeface="Times New Roman" panose="02020603050405020304" pitchFamily="18" charset="0"/>
                <a:cs typeface="Times New Roman" panose="02020603050405020304" pitchFamily="18" charset="0"/>
              </a:rPr>
              <a:t>The second image shows a Smart Event Management System dashboard with a clean, modern interface displayed in a browser. It includes feature cards like Create Event, View Events, Register, and Logout along with summary statistics for better event tracking.</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IN" sz="2800" dirty="0"/>
              <a:t>m</a:t>
            </a:r>
          </a:p>
        </p:txBody>
      </p:sp>
      <p:pic>
        <p:nvPicPr>
          <p:cNvPr id="3" name="Picture 2">
            <a:extLst>
              <a:ext uri="{FF2B5EF4-FFF2-40B4-BE49-F238E27FC236}">
                <a16:creationId xmlns:a16="http://schemas.microsoft.com/office/drawing/2014/main" id="{469E0E5F-DB7A-D080-1091-E784A1EAD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7107" y="2031695"/>
            <a:ext cx="10291293" cy="578242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12157174"/>
          </a:xfrm>
          <a:prstGeom prst="rect">
            <a:avLst/>
          </a:prstGeom>
          <a:noFill/>
        </p:spPr>
        <p:txBody>
          <a:bodyPr wrap="square" rtlCol="0">
            <a:spAutoFit/>
          </a:bodyPr>
          <a:lstStyle/>
          <a:p>
            <a:r>
              <a:rPr lang="en-US" sz="2800" dirty="0"/>
              <a:t>Output:</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 clean and modern Smart Event Management System dashboard is shown in a browser after login. It contains four main feature cards with a professional UI layout and navigation bar.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D8B68656-8C19-8E03-13C2-D84DF0226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5700" y="2015465"/>
            <a:ext cx="10820400" cy="607971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72751DA-07A0-C364-4277-13DADEDDC48F}"/>
              </a:ext>
            </a:extLst>
          </p:cNvPr>
          <p:cNvSpPr>
            <a:spLocks noChangeArrowheads="1"/>
          </p:cNvSpPr>
          <p:nvPr/>
        </p:nvSpPr>
        <p:spPr bwMode="auto">
          <a:xfrm rot="10800000" flipV="1">
            <a:off x="2001043" y="1135990"/>
            <a:ext cx="14317374" cy="6664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Improves efficiency by automating event management and reducing manual work.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Ensures secure data handling through user authentication and access control.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fast processing with instant login and data retrieval.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Maintains organized data using a structured MySQL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Offers scalable design that can be extended with new features easily.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Easy to maintain due to modular frontend and backend structure.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Supports real-time interaction with immediate login validation.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Lightweight system that runs on simple Node.js and MySQL setup.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735</TotalTime>
  <Words>1117</Words>
  <Application>Microsoft Office PowerPoint</Application>
  <PresentationFormat>Custom</PresentationFormat>
  <Paragraphs>279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Naga Sahithi Kiran</dc:creator>
  <cp:lastModifiedBy>Pallapu Dileep Kumar</cp:lastModifiedBy>
  <cp:revision>19</cp:revision>
  <dcterms:created xsi:type="dcterms:W3CDTF">2006-08-16T00:00:00Z</dcterms:created>
  <dcterms:modified xsi:type="dcterms:W3CDTF">2026-05-05T13:44:13Z</dcterms:modified>
  <dc:identifier>DAHCaYqJ9OU</dc:identifier>
</cp:coreProperties>
</file>